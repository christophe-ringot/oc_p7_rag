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4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2" autoAdjust="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79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0C2F51-BA04-4EE6-A4FC-93C03798994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84FEF95-5FE3-4BD1-921A-6EA5DAF50162}">
      <dgm:prSet/>
      <dgm:spPr/>
      <dgm:t>
        <a:bodyPr/>
        <a:lstStyle/>
        <a:p>
          <a:r>
            <a:rPr lang="fr-FR" dirty="0"/>
            <a:t>- Client : </a:t>
          </a:r>
          <a:r>
            <a:rPr lang="fr-FR" dirty="0" err="1"/>
            <a:t>Puls</a:t>
          </a:r>
          <a:r>
            <a:rPr lang="fr-FR" dirty="0"/>
            <a:t>-Events, plateforme de découverte d'événements.</a:t>
          </a:r>
          <a:endParaRPr lang="en-US" dirty="0"/>
        </a:p>
      </dgm:t>
    </dgm:pt>
    <dgm:pt modelId="{4CEAAE34-1012-40B3-A9A9-517B3E3E13C7}" type="parTrans" cxnId="{D823938B-26F6-4E42-95E5-CC7C2B91D4CD}">
      <dgm:prSet/>
      <dgm:spPr/>
      <dgm:t>
        <a:bodyPr/>
        <a:lstStyle/>
        <a:p>
          <a:endParaRPr lang="en-US"/>
        </a:p>
      </dgm:t>
    </dgm:pt>
    <dgm:pt modelId="{2914B1D4-022C-4B95-8AC3-59E1BB4AE59A}" type="sibTrans" cxnId="{D823938B-26F6-4E42-95E5-CC7C2B91D4CD}">
      <dgm:prSet/>
      <dgm:spPr/>
      <dgm:t>
        <a:bodyPr/>
        <a:lstStyle/>
        <a:p>
          <a:endParaRPr lang="en-US"/>
        </a:p>
      </dgm:t>
    </dgm:pt>
    <dgm:pt modelId="{26C540D3-03A1-4F91-9562-7491BC59B3B5}">
      <dgm:prSet/>
      <dgm:spPr/>
      <dgm:t>
        <a:bodyPr/>
        <a:lstStyle/>
        <a:p>
          <a:r>
            <a:rPr lang="fr-FR"/>
            <a:t>- Besoin : Un assistant conversationnel capable de répondre à des questions en langage naturel sur les événements culturels disponibles</a:t>
          </a:r>
          <a:endParaRPr lang="en-US"/>
        </a:p>
      </dgm:t>
    </dgm:pt>
    <dgm:pt modelId="{C08855BD-9A2F-4DBE-9A70-FC2585362356}" type="parTrans" cxnId="{4BA4E86A-1057-4502-8A9B-E922186A694B}">
      <dgm:prSet/>
      <dgm:spPr/>
      <dgm:t>
        <a:bodyPr/>
        <a:lstStyle/>
        <a:p>
          <a:endParaRPr lang="en-US"/>
        </a:p>
      </dgm:t>
    </dgm:pt>
    <dgm:pt modelId="{CC795D2A-33C0-4480-BF36-D2B5AF21F90D}" type="sibTrans" cxnId="{4BA4E86A-1057-4502-8A9B-E922186A694B}">
      <dgm:prSet/>
      <dgm:spPr/>
      <dgm:t>
        <a:bodyPr/>
        <a:lstStyle/>
        <a:p>
          <a:endParaRPr lang="en-US"/>
        </a:p>
      </dgm:t>
    </dgm:pt>
    <dgm:pt modelId="{CC40D6DC-843A-44AC-8B9E-3EABEB49213F}">
      <dgm:prSet/>
      <dgm:spPr/>
      <dgm:t>
        <a:bodyPr/>
        <a:lstStyle/>
        <a:p>
          <a:r>
            <a:rPr lang="fr-FR"/>
            <a:t>- Limites d'un LLM classique :</a:t>
          </a:r>
          <a:endParaRPr lang="en-US"/>
        </a:p>
      </dgm:t>
    </dgm:pt>
    <dgm:pt modelId="{72DEB998-FB5E-4C34-AC57-B0729DE6198A}" type="parTrans" cxnId="{D10F6334-B108-4ADD-A6EA-41381A877030}">
      <dgm:prSet/>
      <dgm:spPr/>
      <dgm:t>
        <a:bodyPr/>
        <a:lstStyle/>
        <a:p>
          <a:endParaRPr lang="en-US"/>
        </a:p>
      </dgm:t>
    </dgm:pt>
    <dgm:pt modelId="{472DFC62-935A-4637-B4D8-027BC837C86A}" type="sibTrans" cxnId="{D10F6334-B108-4ADD-A6EA-41381A877030}">
      <dgm:prSet/>
      <dgm:spPr/>
      <dgm:t>
        <a:bodyPr/>
        <a:lstStyle/>
        <a:p>
          <a:endParaRPr lang="en-US"/>
        </a:p>
      </dgm:t>
    </dgm:pt>
    <dgm:pt modelId="{05114F54-6B1E-4605-9EC8-69E9EBB6675F}">
      <dgm:prSet/>
      <dgm:spPr/>
      <dgm:t>
        <a:bodyPr/>
        <a:lstStyle/>
        <a:p>
          <a:r>
            <a:rPr lang="fr-FR"/>
            <a:t>Connaissance figée à la date d'entraînement</a:t>
          </a:r>
          <a:endParaRPr lang="en-US"/>
        </a:p>
      </dgm:t>
    </dgm:pt>
    <dgm:pt modelId="{1BC3C8F5-EC79-4825-AAF6-6F81FACA7D58}" type="parTrans" cxnId="{867A5CF7-035C-40C6-9CE8-32CE9E506FE2}">
      <dgm:prSet/>
      <dgm:spPr/>
      <dgm:t>
        <a:bodyPr/>
        <a:lstStyle/>
        <a:p>
          <a:endParaRPr lang="en-US"/>
        </a:p>
      </dgm:t>
    </dgm:pt>
    <dgm:pt modelId="{99512A57-FCD8-4867-B39A-D35FD35EE883}" type="sibTrans" cxnId="{867A5CF7-035C-40C6-9CE8-32CE9E506FE2}">
      <dgm:prSet/>
      <dgm:spPr/>
      <dgm:t>
        <a:bodyPr/>
        <a:lstStyle/>
        <a:p>
          <a:endParaRPr lang="en-US"/>
        </a:p>
      </dgm:t>
    </dgm:pt>
    <dgm:pt modelId="{CBC5A247-1D3E-4548-9909-9567264159DC}">
      <dgm:prSet/>
      <dgm:spPr/>
      <dgm:t>
        <a:bodyPr/>
        <a:lstStyle/>
        <a:p>
          <a:r>
            <a:rPr lang="fr-FR"/>
            <a:t>Aucune connaissance des événements locaux</a:t>
          </a:r>
          <a:endParaRPr lang="en-US"/>
        </a:p>
      </dgm:t>
    </dgm:pt>
    <dgm:pt modelId="{1F53C938-DCA5-4D39-8B28-074E8A91B6F3}" type="parTrans" cxnId="{EC73783E-494D-425D-9A80-AD9C7A489E8C}">
      <dgm:prSet/>
      <dgm:spPr/>
      <dgm:t>
        <a:bodyPr/>
        <a:lstStyle/>
        <a:p>
          <a:endParaRPr lang="en-US"/>
        </a:p>
      </dgm:t>
    </dgm:pt>
    <dgm:pt modelId="{481466A8-3677-427C-B5DC-D4248E0D8103}" type="sibTrans" cxnId="{EC73783E-494D-425D-9A80-AD9C7A489E8C}">
      <dgm:prSet/>
      <dgm:spPr/>
      <dgm:t>
        <a:bodyPr/>
        <a:lstStyle/>
        <a:p>
          <a:endParaRPr lang="en-US"/>
        </a:p>
      </dgm:t>
    </dgm:pt>
    <dgm:pt modelId="{477C060F-5D4F-46D9-AA51-31BCE7157AE3}">
      <dgm:prSet/>
      <dgm:spPr/>
      <dgm:t>
        <a:bodyPr/>
        <a:lstStyle/>
        <a:p>
          <a:r>
            <a:rPr lang="fr-FR"/>
            <a:t>Risque élevé d'hallucinations</a:t>
          </a:r>
          <a:endParaRPr lang="en-US"/>
        </a:p>
      </dgm:t>
    </dgm:pt>
    <dgm:pt modelId="{D5B5E6AB-15E3-4C65-BA1F-D0CAE62E9ADC}" type="parTrans" cxnId="{C1A447CF-C62F-4C1F-8A84-8635F75B3372}">
      <dgm:prSet/>
      <dgm:spPr/>
      <dgm:t>
        <a:bodyPr/>
        <a:lstStyle/>
        <a:p>
          <a:endParaRPr lang="en-US"/>
        </a:p>
      </dgm:t>
    </dgm:pt>
    <dgm:pt modelId="{4B2C48A6-0CFB-43A0-8365-11F1CB8A48C9}" type="sibTrans" cxnId="{C1A447CF-C62F-4C1F-8A84-8635F75B3372}">
      <dgm:prSet/>
      <dgm:spPr/>
      <dgm:t>
        <a:bodyPr/>
        <a:lstStyle/>
        <a:p>
          <a:endParaRPr lang="en-US"/>
        </a:p>
      </dgm:t>
    </dgm:pt>
    <dgm:pt modelId="{A596B92E-59B9-4C2F-AD7A-1AAEF57B09E0}">
      <dgm:prSet/>
      <dgm:spPr/>
      <dgm:t>
        <a:bodyPr/>
        <a:lstStyle/>
        <a:p>
          <a:r>
            <a:rPr lang="fr-FR"/>
            <a:t>Solution retenue : RAG (Retrieval-Augmented Generation)</a:t>
          </a:r>
          <a:endParaRPr lang="en-US"/>
        </a:p>
      </dgm:t>
    </dgm:pt>
    <dgm:pt modelId="{BFF910D7-5EA4-4F4D-AB3B-FC105E41BA44}" type="parTrans" cxnId="{0ADC9848-0143-4E8D-9BED-2FF5DAFC8303}">
      <dgm:prSet/>
      <dgm:spPr/>
      <dgm:t>
        <a:bodyPr/>
        <a:lstStyle/>
        <a:p>
          <a:endParaRPr lang="en-US"/>
        </a:p>
      </dgm:t>
    </dgm:pt>
    <dgm:pt modelId="{69619D22-2995-4DCF-92CD-AD1E02FC0051}" type="sibTrans" cxnId="{0ADC9848-0143-4E8D-9BED-2FF5DAFC8303}">
      <dgm:prSet/>
      <dgm:spPr/>
      <dgm:t>
        <a:bodyPr/>
        <a:lstStyle/>
        <a:p>
          <a:endParaRPr lang="en-US"/>
        </a:p>
      </dgm:t>
    </dgm:pt>
    <dgm:pt modelId="{435975D7-2238-4736-A817-94247A5EAD02}" type="pres">
      <dgm:prSet presAssocID="{200C2F51-BA04-4EE6-A4FC-93C03798994D}" presName="root" presStyleCnt="0">
        <dgm:presLayoutVars>
          <dgm:dir/>
          <dgm:resizeHandles val="exact"/>
        </dgm:presLayoutVars>
      </dgm:prSet>
      <dgm:spPr/>
    </dgm:pt>
    <dgm:pt modelId="{89D6CBC8-6BEA-48D2-9D9E-206AB24B05BB}" type="pres">
      <dgm:prSet presAssocID="{A84FEF95-5FE3-4BD1-921A-6EA5DAF50162}" presName="compNode" presStyleCnt="0"/>
      <dgm:spPr/>
    </dgm:pt>
    <dgm:pt modelId="{737AD578-643D-4C67-A279-BE3ED2662D67}" type="pres">
      <dgm:prSet presAssocID="{A84FEF95-5FE3-4BD1-921A-6EA5DAF50162}" presName="bgRect" presStyleLbl="bgShp" presStyleIdx="0" presStyleCnt="4"/>
      <dgm:spPr/>
    </dgm:pt>
    <dgm:pt modelId="{FB4392AB-4E16-4E79-9C5F-E8FB7E1E76F5}" type="pres">
      <dgm:prSet presAssocID="{A84FEF95-5FE3-4BD1-921A-6EA5DAF5016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aute"/>
        </a:ext>
      </dgm:extLst>
    </dgm:pt>
    <dgm:pt modelId="{6A9D17B6-8818-4B89-B50B-7B1E8895C6FA}" type="pres">
      <dgm:prSet presAssocID="{A84FEF95-5FE3-4BD1-921A-6EA5DAF50162}" presName="spaceRect" presStyleCnt="0"/>
      <dgm:spPr/>
    </dgm:pt>
    <dgm:pt modelId="{844D6EFA-5C00-457A-A568-C147807A3A74}" type="pres">
      <dgm:prSet presAssocID="{A84FEF95-5FE3-4BD1-921A-6EA5DAF50162}" presName="parTx" presStyleLbl="revTx" presStyleIdx="0" presStyleCnt="5">
        <dgm:presLayoutVars>
          <dgm:chMax val="0"/>
          <dgm:chPref val="0"/>
        </dgm:presLayoutVars>
      </dgm:prSet>
      <dgm:spPr/>
    </dgm:pt>
    <dgm:pt modelId="{97997D14-1F00-4042-9F49-F0C24AAEA145}" type="pres">
      <dgm:prSet presAssocID="{2914B1D4-022C-4B95-8AC3-59E1BB4AE59A}" presName="sibTrans" presStyleCnt="0"/>
      <dgm:spPr/>
    </dgm:pt>
    <dgm:pt modelId="{D2BE7AD6-878B-4856-B9FB-198A5060FDB8}" type="pres">
      <dgm:prSet presAssocID="{26C540D3-03A1-4F91-9562-7491BC59B3B5}" presName="compNode" presStyleCnt="0"/>
      <dgm:spPr/>
    </dgm:pt>
    <dgm:pt modelId="{6A0A69E9-7597-425A-BD49-4678F469836C}" type="pres">
      <dgm:prSet presAssocID="{26C540D3-03A1-4F91-9562-7491BC59B3B5}" presName="bgRect" presStyleLbl="bgShp" presStyleIdx="1" presStyleCnt="4"/>
      <dgm:spPr/>
    </dgm:pt>
    <dgm:pt modelId="{C60D9E89-1A4E-4348-94E0-71495485A6E6}" type="pres">
      <dgm:prSet presAssocID="{26C540D3-03A1-4F91-9562-7491BC59B3B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ngue"/>
        </a:ext>
      </dgm:extLst>
    </dgm:pt>
    <dgm:pt modelId="{43FB9E34-A8BF-4328-96A6-EEB9B8E75B8E}" type="pres">
      <dgm:prSet presAssocID="{26C540D3-03A1-4F91-9562-7491BC59B3B5}" presName="spaceRect" presStyleCnt="0"/>
      <dgm:spPr/>
    </dgm:pt>
    <dgm:pt modelId="{9F00BE01-0811-4AE0-8B7B-A8F02D379C23}" type="pres">
      <dgm:prSet presAssocID="{26C540D3-03A1-4F91-9562-7491BC59B3B5}" presName="parTx" presStyleLbl="revTx" presStyleIdx="1" presStyleCnt="5">
        <dgm:presLayoutVars>
          <dgm:chMax val="0"/>
          <dgm:chPref val="0"/>
        </dgm:presLayoutVars>
      </dgm:prSet>
      <dgm:spPr/>
    </dgm:pt>
    <dgm:pt modelId="{9D41BD3E-C295-4F82-9A9E-93CCD02697F9}" type="pres">
      <dgm:prSet presAssocID="{CC795D2A-33C0-4480-BF36-D2B5AF21F90D}" presName="sibTrans" presStyleCnt="0"/>
      <dgm:spPr/>
    </dgm:pt>
    <dgm:pt modelId="{767DCB31-D759-499C-B53E-E2627BAC110E}" type="pres">
      <dgm:prSet presAssocID="{CC40D6DC-843A-44AC-8B9E-3EABEB49213F}" presName="compNode" presStyleCnt="0"/>
      <dgm:spPr/>
    </dgm:pt>
    <dgm:pt modelId="{911C6A5E-A624-403B-A44B-D33DFE29C87D}" type="pres">
      <dgm:prSet presAssocID="{CC40D6DC-843A-44AC-8B9E-3EABEB49213F}" presName="bgRect" presStyleLbl="bgShp" presStyleIdx="2" presStyleCnt="4"/>
      <dgm:spPr/>
    </dgm:pt>
    <dgm:pt modelId="{98D30A6B-D7BF-48F7-85C4-A6A0001A9EF9}" type="pres">
      <dgm:prSet presAssocID="{CC40D6DC-843A-44AC-8B9E-3EABEB49213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E354D89D-9380-4CA9-908B-D8D807CD9C49}" type="pres">
      <dgm:prSet presAssocID="{CC40D6DC-843A-44AC-8B9E-3EABEB49213F}" presName="spaceRect" presStyleCnt="0"/>
      <dgm:spPr/>
    </dgm:pt>
    <dgm:pt modelId="{50421AC2-6BE8-42EF-A44D-8D3930A5DC24}" type="pres">
      <dgm:prSet presAssocID="{CC40D6DC-843A-44AC-8B9E-3EABEB49213F}" presName="parTx" presStyleLbl="revTx" presStyleIdx="2" presStyleCnt="5">
        <dgm:presLayoutVars>
          <dgm:chMax val="0"/>
          <dgm:chPref val="0"/>
        </dgm:presLayoutVars>
      </dgm:prSet>
      <dgm:spPr/>
    </dgm:pt>
    <dgm:pt modelId="{7A72A73F-DB56-4F58-A04F-C51476BEC47B}" type="pres">
      <dgm:prSet presAssocID="{CC40D6DC-843A-44AC-8B9E-3EABEB49213F}" presName="desTx" presStyleLbl="revTx" presStyleIdx="3" presStyleCnt="5">
        <dgm:presLayoutVars/>
      </dgm:prSet>
      <dgm:spPr/>
    </dgm:pt>
    <dgm:pt modelId="{11FE3855-EBE8-48B3-9BF9-B9BD150B4CFB}" type="pres">
      <dgm:prSet presAssocID="{472DFC62-935A-4637-B4D8-027BC837C86A}" presName="sibTrans" presStyleCnt="0"/>
      <dgm:spPr/>
    </dgm:pt>
    <dgm:pt modelId="{65000412-11B6-4DD1-BCD4-F565997E58C4}" type="pres">
      <dgm:prSet presAssocID="{A596B92E-59B9-4C2F-AD7A-1AAEF57B09E0}" presName="compNode" presStyleCnt="0"/>
      <dgm:spPr/>
    </dgm:pt>
    <dgm:pt modelId="{C9A22B50-F21A-4CCA-AF2C-AE5F0AB6B2BC}" type="pres">
      <dgm:prSet presAssocID="{A596B92E-59B9-4C2F-AD7A-1AAEF57B09E0}" presName="bgRect" presStyleLbl="bgShp" presStyleIdx="3" presStyleCnt="4"/>
      <dgm:spPr/>
    </dgm:pt>
    <dgm:pt modelId="{6D637427-A11C-4FAE-BBAB-C541A620B792}" type="pres">
      <dgm:prSet presAssocID="{A596B92E-59B9-4C2F-AD7A-1AAEF57B09E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rinette"/>
        </a:ext>
      </dgm:extLst>
    </dgm:pt>
    <dgm:pt modelId="{32AECA3D-95C5-4D54-AF10-5752D25C3E73}" type="pres">
      <dgm:prSet presAssocID="{A596B92E-59B9-4C2F-AD7A-1AAEF57B09E0}" presName="spaceRect" presStyleCnt="0"/>
      <dgm:spPr/>
    </dgm:pt>
    <dgm:pt modelId="{D000229C-A55A-476D-9CCB-5C1E2157342D}" type="pres">
      <dgm:prSet presAssocID="{A596B92E-59B9-4C2F-AD7A-1AAEF57B09E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10F6334-B108-4ADD-A6EA-41381A877030}" srcId="{200C2F51-BA04-4EE6-A4FC-93C03798994D}" destId="{CC40D6DC-843A-44AC-8B9E-3EABEB49213F}" srcOrd="2" destOrd="0" parTransId="{72DEB998-FB5E-4C34-AC57-B0729DE6198A}" sibTransId="{472DFC62-935A-4637-B4D8-027BC837C86A}"/>
    <dgm:cxn modelId="{EC73783E-494D-425D-9A80-AD9C7A489E8C}" srcId="{CC40D6DC-843A-44AC-8B9E-3EABEB49213F}" destId="{CBC5A247-1D3E-4548-9909-9567264159DC}" srcOrd="1" destOrd="0" parTransId="{1F53C938-DCA5-4D39-8B28-074E8A91B6F3}" sibTransId="{481466A8-3677-427C-B5DC-D4248E0D8103}"/>
    <dgm:cxn modelId="{0ADC9848-0143-4E8D-9BED-2FF5DAFC8303}" srcId="{200C2F51-BA04-4EE6-A4FC-93C03798994D}" destId="{A596B92E-59B9-4C2F-AD7A-1AAEF57B09E0}" srcOrd="3" destOrd="0" parTransId="{BFF910D7-5EA4-4F4D-AB3B-FC105E41BA44}" sibTransId="{69619D22-2995-4DCF-92CD-AD1E02FC0051}"/>
    <dgm:cxn modelId="{4BA4E86A-1057-4502-8A9B-E922186A694B}" srcId="{200C2F51-BA04-4EE6-A4FC-93C03798994D}" destId="{26C540D3-03A1-4F91-9562-7491BC59B3B5}" srcOrd="1" destOrd="0" parTransId="{C08855BD-9A2F-4DBE-9A70-FC2585362356}" sibTransId="{CC795D2A-33C0-4480-BF36-D2B5AF21F90D}"/>
    <dgm:cxn modelId="{2F6D7D6F-8E61-4A9E-A912-F3CD01E753C8}" type="presOf" srcId="{A84FEF95-5FE3-4BD1-921A-6EA5DAF50162}" destId="{844D6EFA-5C00-457A-A568-C147807A3A74}" srcOrd="0" destOrd="0" presId="urn:microsoft.com/office/officeart/2018/2/layout/IconVerticalSolidList"/>
    <dgm:cxn modelId="{947B617D-ACCD-42BC-BF0D-D64E0D73C027}" type="presOf" srcId="{477C060F-5D4F-46D9-AA51-31BCE7157AE3}" destId="{7A72A73F-DB56-4F58-A04F-C51476BEC47B}" srcOrd="0" destOrd="2" presId="urn:microsoft.com/office/officeart/2018/2/layout/IconVerticalSolidList"/>
    <dgm:cxn modelId="{0E01CF7E-AF74-4547-B83F-5A44F6F8472F}" type="presOf" srcId="{A596B92E-59B9-4C2F-AD7A-1AAEF57B09E0}" destId="{D000229C-A55A-476D-9CCB-5C1E2157342D}" srcOrd="0" destOrd="0" presId="urn:microsoft.com/office/officeart/2018/2/layout/IconVerticalSolidList"/>
    <dgm:cxn modelId="{5BB0CC89-C568-4888-97CE-24C3B8D32229}" type="presOf" srcId="{26C540D3-03A1-4F91-9562-7491BC59B3B5}" destId="{9F00BE01-0811-4AE0-8B7B-A8F02D379C23}" srcOrd="0" destOrd="0" presId="urn:microsoft.com/office/officeart/2018/2/layout/IconVerticalSolidList"/>
    <dgm:cxn modelId="{D823938B-26F6-4E42-95E5-CC7C2B91D4CD}" srcId="{200C2F51-BA04-4EE6-A4FC-93C03798994D}" destId="{A84FEF95-5FE3-4BD1-921A-6EA5DAF50162}" srcOrd="0" destOrd="0" parTransId="{4CEAAE34-1012-40B3-A9A9-517B3E3E13C7}" sibTransId="{2914B1D4-022C-4B95-8AC3-59E1BB4AE59A}"/>
    <dgm:cxn modelId="{7D6BEC90-2B00-4567-9C96-BEFE33C159BF}" type="presOf" srcId="{200C2F51-BA04-4EE6-A4FC-93C03798994D}" destId="{435975D7-2238-4736-A817-94247A5EAD02}" srcOrd="0" destOrd="0" presId="urn:microsoft.com/office/officeart/2018/2/layout/IconVerticalSolidList"/>
    <dgm:cxn modelId="{038A19A2-7E5F-4C37-B02B-8B4C46891E7A}" type="presOf" srcId="{05114F54-6B1E-4605-9EC8-69E9EBB6675F}" destId="{7A72A73F-DB56-4F58-A04F-C51476BEC47B}" srcOrd="0" destOrd="0" presId="urn:microsoft.com/office/officeart/2018/2/layout/IconVerticalSolidList"/>
    <dgm:cxn modelId="{C1A447CF-C62F-4C1F-8A84-8635F75B3372}" srcId="{CC40D6DC-843A-44AC-8B9E-3EABEB49213F}" destId="{477C060F-5D4F-46D9-AA51-31BCE7157AE3}" srcOrd="2" destOrd="0" parTransId="{D5B5E6AB-15E3-4C65-BA1F-D0CAE62E9ADC}" sibTransId="{4B2C48A6-0CFB-43A0-8365-11F1CB8A48C9}"/>
    <dgm:cxn modelId="{A10783E2-083E-43D6-A367-0F51A166D735}" type="presOf" srcId="{CBC5A247-1D3E-4548-9909-9567264159DC}" destId="{7A72A73F-DB56-4F58-A04F-C51476BEC47B}" srcOrd="0" destOrd="1" presId="urn:microsoft.com/office/officeart/2018/2/layout/IconVerticalSolidList"/>
    <dgm:cxn modelId="{E2C759F0-737B-498E-9F22-5F8B1CD0D94D}" type="presOf" srcId="{CC40D6DC-843A-44AC-8B9E-3EABEB49213F}" destId="{50421AC2-6BE8-42EF-A44D-8D3930A5DC24}" srcOrd="0" destOrd="0" presId="urn:microsoft.com/office/officeart/2018/2/layout/IconVerticalSolidList"/>
    <dgm:cxn modelId="{867A5CF7-035C-40C6-9CE8-32CE9E506FE2}" srcId="{CC40D6DC-843A-44AC-8B9E-3EABEB49213F}" destId="{05114F54-6B1E-4605-9EC8-69E9EBB6675F}" srcOrd="0" destOrd="0" parTransId="{1BC3C8F5-EC79-4825-AAF6-6F81FACA7D58}" sibTransId="{99512A57-FCD8-4867-B39A-D35FD35EE883}"/>
    <dgm:cxn modelId="{DA3CD831-C0D8-43FC-ACF3-281EA6F76A5E}" type="presParOf" srcId="{435975D7-2238-4736-A817-94247A5EAD02}" destId="{89D6CBC8-6BEA-48D2-9D9E-206AB24B05BB}" srcOrd="0" destOrd="0" presId="urn:microsoft.com/office/officeart/2018/2/layout/IconVerticalSolidList"/>
    <dgm:cxn modelId="{3505F7E1-6BD5-4CC6-9163-BF7702E6666B}" type="presParOf" srcId="{89D6CBC8-6BEA-48D2-9D9E-206AB24B05BB}" destId="{737AD578-643D-4C67-A279-BE3ED2662D67}" srcOrd="0" destOrd="0" presId="urn:microsoft.com/office/officeart/2018/2/layout/IconVerticalSolidList"/>
    <dgm:cxn modelId="{CA71E72A-02E4-45AD-B7F4-57CEE0C42221}" type="presParOf" srcId="{89D6CBC8-6BEA-48D2-9D9E-206AB24B05BB}" destId="{FB4392AB-4E16-4E79-9C5F-E8FB7E1E76F5}" srcOrd="1" destOrd="0" presId="urn:microsoft.com/office/officeart/2018/2/layout/IconVerticalSolidList"/>
    <dgm:cxn modelId="{3D5D0131-133E-4178-9A28-86EEE1DCB450}" type="presParOf" srcId="{89D6CBC8-6BEA-48D2-9D9E-206AB24B05BB}" destId="{6A9D17B6-8818-4B89-B50B-7B1E8895C6FA}" srcOrd="2" destOrd="0" presId="urn:microsoft.com/office/officeart/2018/2/layout/IconVerticalSolidList"/>
    <dgm:cxn modelId="{53A11374-2650-408C-B511-05614E33B361}" type="presParOf" srcId="{89D6CBC8-6BEA-48D2-9D9E-206AB24B05BB}" destId="{844D6EFA-5C00-457A-A568-C147807A3A74}" srcOrd="3" destOrd="0" presId="urn:microsoft.com/office/officeart/2018/2/layout/IconVerticalSolidList"/>
    <dgm:cxn modelId="{1A13A995-E920-4AB1-9BC1-ACFE5CDB31E4}" type="presParOf" srcId="{435975D7-2238-4736-A817-94247A5EAD02}" destId="{97997D14-1F00-4042-9F49-F0C24AAEA145}" srcOrd="1" destOrd="0" presId="urn:microsoft.com/office/officeart/2018/2/layout/IconVerticalSolidList"/>
    <dgm:cxn modelId="{2BD0960A-E309-4431-9EBE-8ED2526E885B}" type="presParOf" srcId="{435975D7-2238-4736-A817-94247A5EAD02}" destId="{D2BE7AD6-878B-4856-B9FB-198A5060FDB8}" srcOrd="2" destOrd="0" presId="urn:microsoft.com/office/officeart/2018/2/layout/IconVerticalSolidList"/>
    <dgm:cxn modelId="{EE144157-7BEC-483D-B004-BF4CD1ECB3E0}" type="presParOf" srcId="{D2BE7AD6-878B-4856-B9FB-198A5060FDB8}" destId="{6A0A69E9-7597-425A-BD49-4678F469836C}" srcOrd="0" destOrd="0" presId="urn:microsoft.com/office/officeart/2018/2/layout/IconVerticalSolidList"/>
    <dgm:cxn modelId="{44B08E89-AC84-421F-B324-692F8E5AB45B}" type="presParOf" srcId="{D2BE7AD6-878B-4856-B9FB-198A5060FDB8}" destId="{C60D9E89-1A4E-4348-94E0-71495485A6E6}" srcOrd="1" destOrd="0" presId="urn:microsoft.com/office/officeart/2018/2/layout/IconVerticalSolidList"/>
    <dgm:cxn modelId="{B145B92C-7132-45D2-BFB8-F534A8B5DD10}" type="presParOf" srcId="{D2BE7AD6-878B-4856-B9FB-198A5060FDB8}" destId="{43FB9E34-A8BF-4328-96A6-EEB9B8E75B8E}" srcOrd="2" destOrd="0" presId="urn:microsoft.com/office/officeart/2018/2/layout/IconVerticalSolidList"/>
    <dgm:cxn modelId="{3B1C94CB-7E92-47FE-8039-372F1E1FF92D}" type="presParOf" srcId="{D2BE7AD6-878B-4856-B9FB-198A5060FDB8}" destId="{9F00BE01-0811-4AE0-8B7B-A8F02D379C23}" srcOrd="3" destOrd="0" presId="urn:microsoft.com/office/officeart/2018/2/layout/IconVerticalSolidList"/>
    <dgm:cxn modelId="{B262B8D5-1DD2-4A48-8A38-AC3851A912D0}" type="presParOf" srcId="{435975D7-2238-4736-A817-94247A5EAD02}" destId="{9D41BD3E-C295-4F82-9A9E-93CCD02697F9}" srcOrd="3" destOrd="0" presId="urn:microsoft.com/office/officeart/2018/2/layout/IconVerticalSolidList"/>
    <dgm:cxn modelId="{2ABC584E-DEE0-4FBA-B6C1-AAB95746DA84}" type="presParOf" srcId="{435975D7-2238-4736-A817-94247A5EAD02}" destId="{767DCB31-D759-499C-B53E-E2627BAC110E}" srcOrd="4" destOrd="0" presId="urn:microsoft.com/office/officeart/2018/2/layout/IconVerticalSolidList"/>
    <dgm:cxn modelId="{2DC964EB-5E03-4C22-88B5-0AE5B8448DE4}" type="presParOf" srcId="{767DCB31-D759-499C-B53E-E2627BAC110E}" destId="{911C6A5E-A624-403B-A44B-D33DFE29C87D}" srcOrd="0" destOrd="0" presId="urn:microsoft.com/office/officeart/2018/2/layout/IconVerticalSolidList"/>
    <dgm:cxn modelId="{AC0C99C0-C652-4F35-AD86-4E6C183DD40D}" type="presParOf" srcId="{767DCB31-D759-499C-B53E-E2627BAC110E}" destId="{98D30A6B-D7BF-48F7-85C4-A6A0001A9EF9}" srcOrd="1" destOrd="0" presId="urn:microsoft.com/office/officeart/2018/2/layout/IconVerticalSolidList"/>
    <dgm:cxn modelId="{8467336F-DA45-406F-9551-416FAE55BCB6}" type="presParOf" srcId="{767DCB31-D759-499C-B53E-E2627BAC110E}" destId="{E354D89D-9380-4CA9-908B-D8D807CD9C49}" srcOrd="2" destOrd="0" presId="urn:microsoft.com/office/officeart/2018/2/layout/IconVerticalSolidList"/>
    <dgm:cxn modelId="{A72CE657-728A-4966-9D23-E3A2949D60B7}" type="presParOf" srcId="{767DCB31-D759-499C-B53E-E2627BAC110E}" destId="{50421AC2-6BE8-42EF-A44D-8D3930A5DC24}" srcOrd="3" destOrd="0" presId="urn:microsoft.com/office/officeart/2018/2/layout/IconVerticalSolidList"/>
    <dgm:cxn modelId="{D01C0037-0345-4184-B9B4-026C9E97916D}" type="presParOf" srcId="{767DCB31-D759-499C-B53E-E2627BAC110E}" destId="{7A72A73F-DB56-4F58-A04F-C51476BEC47B}" srcOrd="4" destOrd="0" presId="urn:microsoft.com/office/officeart/2018/2/layout/IconVerticalSolidList"/>
    <dgm:cxn modelId="{2B006B88-DA14-4104-BB68-E6007F6B4A7B}" type="presParOf" srcId="{435975D7-2238-4736-A817-94247A5EAD02}" destId="{11FE3855-EBE8-48B3-9BF9-B9BD150B4CFB}" srcOrd="5" destOrd="0" presId="urn:microsoft.com/office/officeart/2018/2/layout/IconVerticalSolidList"/>
    <dgm:cxn modelId="{19CB8209-B5F1-4221-8952-B8CC68C1DC94}" type="presParOf" srcId="{435975D7-2238-4736-A817-94247A5EAD02}" destId="{65000412-11B6-4DD1-BCD4-F565997E58C4}" srcOrd="6" destOrd="0" presId="urn:microsoft.com/office/officeart/2018/2/layout/IconVerticalSolidList"/>
    <dgm:cxn modelId="{732D98E3-F0C9-441E-A9A8-C83EC980FC40}" type="presParOf" srcId="{65000412-11B6-4DD1-BCD4-F565997E58C4}" destId="{C9A22B50-F21A-4CCA-AF2C-AE5F0AB6B2BC}" srcOrd="0" destOrd="0" presId="urn:microsoft.com/office/officeart/2018/2/layout/IconVerticalSolidList"/>
    <dgm:cxn modelId="{5FEA375E-1B5C-471D-88A6-02B790A49389}" type="presParOf" srcId="{65000412-11B6-4DD1-BCD4-F565997E58C4}" destId="{6D637427-A11C-4FAE-BBAB-C541A620B792}" srcOrd="1" destOrd="0" presId="urn:microsoft.com/office/officeart/2018/2/layout/IconVerticalSolidList"/>
    <dgm:cxn modelId="{B5AF50E8-9244-40BD-B692-926932649E0E}" type="presParOf" srcId="{65000412-11B6-4DD1-BCD4-F565997E58C4}" destId="{32AECA3D-95C5-4D54-AF10-5752D25C3E73}" srcOrd="2" destOrd="0" presId="urn:microsoft.com/office/officeart/2018/2/layout/IconVerticalSolidList"/>
    <dgm:cxn modelId="{0B21E735-7C18-493A-80BA-6F5F38881C6C}" type="presParOf" srcId="{65000412-11B6-4DD1-BCD4-F565997E58C4}" destId="{D000229C-A55A-476D-9CCB-5C1E2157342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7AD578-643D-4C67-A279-BE3ED2662D67}">
      <dsp:nvSpPr>
        <dsp:cNvPr id="0" name=""/>
        <dsp:cNvSpPr/>
      </dsp:nvSpPr>
      <dsp:spPr>
        <a:xfrm>
          <a:off x="0" y="1669"/>
          <a:ext cx="9720072" cy="84632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4392AB-4E16-4E79-9C5F-E8FB7E1E76F5}">
      <dsp:nvSpPr>
        <dsp:cNvPr id="0" name=""/>
        <dsp:cNvSpPr/>
      </dsp:nvSpPr>
      <dsp:spPr>
        <a:xfrm>
          <a:off x="256011" y="192091"/>
          <a:ext cx="465476" cy="4654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4D6EFA-5C00-457A-A568-C147807A3A74}">
      <dsp:nvSpPr>
        <dsp:cNvPr id="0" name=""/>
        <dsp:cNvSpPr/>
      </dsp:nvSpPr>
      <dsp:spPr>
        <a:xfrm>
          <a:off x="977499" y="1669"/>
          <a:ext cx="8742573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- Client : </a:t>
          </a:r>
          <a:r>
            <a:rPr lang="fr-FR" sz="2200" kern="1200" dirty="0" err="1"/>
            <a:t>Puls</a:t>
          </a:r>
          <a:r>
            <a:rPr lang="fr-FR" sz="2200" kern="1200" dirty="0"/>
            <a:t>-Events, plateforme de découverte d'événements.</a:t>
          </a:r>
          <a:endParaRPr lang="en-US" sz="2200" kern="1200" dirty="0"/>
        </a:p>
      </dsp:txBody>
      <dsp:txXfrm>
        <a:off x="977499" y="1669"/>
        <a:ext cx="8742573" cy="846320"/>
      </dsp:txXfrm>
    </dsp:sp>
    <dsp:sp modelId="{6A0A69E9-7597-425A-BD49-4678F469836C}">
      <dsp:nvSpPr>
        <dsp:cNvPr id="0" name=""/>
        <dsp:cNvSpPr/>
      </dsp:nvSpPr>
      <dsp:spPr>
        <a:xfrm>
          <a:off x="0" y="1059569"/>
          <a:ext cx="9720072" cy="84632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0D9E89-1A4E-4348-94E0-71495485A6E6}">
      <dsp:nvSpPr>
        <dsp:cNvPr id="0" name=""/>
        <dsp:cNvSpPr/>
      </dsp:nvSpPr>
      <dsp:spPr>
        <a:xfrm>
          <a:off x="256011" y="1249991"/>
          <a:ext cx="465476" cy="4654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00BE01-0811-4AE0-8B7B-A8F02D379C23}">
      <dsp:nvSpPr>
        <dsp:cNvPr id="0" name=""/>
        <dsp:cNvSpPr/>
      </dsp:nvSpPr>
      <dsp:spPr>
        <a:xfrm>
          <a:off x="977499" y="1059569"/>
          <a:ext cx="8742573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- Besoin : Un assistant conversationnel capable de répondre à des questions en langage naturel sur les événements culturels disponibles</a:t>
          </a:r>
          <a:endParaRPr lang="en-US" sz="2200" kern="1200"/>
        </a:p>
      </dsp:txBody>
      <dsp:txXfrm>
        <a:off x="977499" y="1059569"/>
        <a:ext cx="8742573" cy="846320"/>
      </dsp:txXfrm>
    </dsp:sp>
    <dsp:sp modelId="{911C6A5E-A624-403B-A44B-D33DFE29C87D}">
      <dsp:nvSpPr>
        <dsp:cNvPr id="0" name=""/>
        <dsp:cNvSpPr/>
      </dsp:nvSpPr>
      <dsp:spPr>
        <a:xfrm>
          <a:off x="0" y="2117470"/>
          <a:ext cx="9720072" cy="84632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D30A6B-D7BF-48F7-85C4-A6A0001A9EF9}">
      <dsp:nvSpPr>
        <dsp:cNvPr id="0" name=""/>
        <dsp:cNvSpPr/>
      </dsp:nvSpPr>
      <dsp:spPr>
        <a:xfrm>
          <a:off x="256011" y="2307892"/>
          <a:ext cx="465476" cy="4654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421AC2-6BE8-42EF-A44D-8D3930A5DC24}">
      <dsp:nvSpPr>
        <dsp:cNvPr id="0" name=""/>
        <dsp:cNvSpPr/>
      </dsp:nvSpPr>
      <dsp:spPr>
        <a:xfrm>
          <a:off x="977499" y="2117470"/>
          <a:ext cx="4374032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- Limites d'un LLM classique :</a:t>
          </a:r>
          <a:endParaRPr lang="en-US" sz="2200" kern="1200"/>
        </a:p>
      </dsp:txBody>
      <dsp:txXfrm>
        <a:off x="977499" y="2117470"/>
        <a:ext cx="4374032" cy="846320"/>
      </dsp:txXfrm>
    </dsp:sp>
    <dsp:sp modelId="{7A72A73F-DB56-4F58-A04F-C51476BEC47B}">
      <dsp:nvSpPr>
        <dsp:cNvPr id="0" name=""/>
        <dsp:cNvSpPr/>
      </dsp:nvSpPr>
      <dsp:spPr>
        <a:xfrm>
          <a:off x="5351532" y="2117470"/>
          <a:ext cx="4368540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Connaissance figée à la date d'entraînement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Aucune connaissance des événements locaux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Risque élevé d'hallucinations</a:t>
          </a:r>
          <a:endParaRPr lang="en-US" sz="1400" kern="1200"/>
        </a:p>
      </dsp:txBody>
      <dsp:txXfrm>
        <a:off x="5351532" y="2117470"/>
        <a:ext cx="4368540" cy="846320"/>
      </dsp:txXfrm>
    </dsp:sp>
    <dsp:sp modelId="{C9A22B50-F21A-4CCA-AF2C-AE5F0AB6B2BC}">
      <dsp:nvSpPr>
        <dsp:cNvPr id="0" name=""/>
        <dsp:cNvSpPr/>
      </dsp:nvSpPr>
      <dsp:spPr>
        <a:xfrm>
          <a:off x="0" y="3175370"/>
          <a:ext cx="9720072" cy="84632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637427-A11C-4FAE-BBAB-C541A620B792}">
      <dsp:nvSpPr>
        <dsp:cNvPr id="0" name=""/>
        <dsp:cNvSpPr/>
      </dsp:nvSpPr>
      <dsp:spPr>
        <a:xfrm>
          <a:off x="256011" y="3365792"/>
          <a:ext cx="465476" cy="4654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00229C-A55A-476D-9CCB-5C1E2157342D}">
      <dsp:nvSpPr>
        <dsp:cNvPr id="0" name=""/>
        <dsp:cNvSpPr/>
      </dsp:nvSpPr>
      <dsp:spPr>
        <a:xfrm>
          <a:off x="977499" y="3175370"/>
          <a:ext cx="8742573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Solution retenue : RAG (Retrieval-Augmented Generation)</a:t>
          </a:r>
          <a:endParaRPr lang="en-US" sz="2200" kern="1200"/>
        </a:p>
      </dsp:txBody>
      <dsp:txXfrm>
        <a:off x="977499" y="3175370"/>
        <a:ext cx="8742573" cy="846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57FDB26-16AF-4C82-AF7A-92449513F3F4}" type="datetime1">
              <a:rPr lang="fr-FR" smtClean="0"/>
              <a:t>20/02/2026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60E9541-3375-4528-AC9C-1D7FD00C3017}" type="datetime1">
              <a:rPr lang="fr-FR" noProof="0" smtClean="0"/>
              <a:t>20/02/2026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B725628-3A68-42F4-BA86-981817953149}" type="slidenum">
              <a:rPr lang="fr-FR" noProof="0" smtClean="0"/>
              <a:t>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645777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B725628-3A68-42F4-BA86-981817953149}" type="slidenum">
              <a:rPr lang="fr-FR" noProof="0" smtClean="0"/>
              <a:t>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15251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B725628-3A68-42F4-BA86-981817953149}" type="slidenum">
              <a:rPr lang="fr-FR" noProof="0" smtClean="0"/>
              <a:t>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06573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B725628-3A68-42F4-BA86-981817953149}" type="slidenum">
              <a:rPr lang="fr-FR" noProof="0" smtClean="0"/>
              <a:t>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64113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B725628-3A68-42F4-BA86-981817953149}" type="slidenum">
              <a:rPr lang="fr-FR" noProof="0" smtClean="0"/>
              <a:t>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41503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B725628-3A68-42F4-BA86-981817953149}" type="slidenum">
              <a:rPr lang="fr-FR" noProof="0" smtClean="0"/>
              <a:t>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3538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B725628-3A68-42F4-BA86-981817953149}" type="slidenum">
              <a:rPr lang="fr-FR" noProof="0" smtClean="0"/>
              <a:t>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63392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Ovale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fr-FR" noProof="0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E27949C9-1C26-45BB-BA53-FCDDA512553D}" type="datetime1">
              <a:rPr lang="fr-FR" noProof="0" smtClean="0"/>
              <a:t>20/02/2026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8" name="Connecteur droit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70CDC4-B118-436F-8999-4E53124174C8}" type="datetime1">
              <a:rPr lang="fr-FR" noProof="0" smtClean="0"/>
              <a:t>20/02/2026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e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CB3B74C-3552-4EC5-970E-EA08B17DE6C3}" type="datetime1">
              <a:rPr lang="fr-FR" noProof="0" smtClean="0"/>
              <a:t>20/02/2026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8" name="Connecteur droit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86671B-8518-416E-9A93-110C3FC765B0}" type="datetime1">
              <a:rPr lang="fr-FR" noProof="0" smtClean="0"/>
              <a:t>20/02/2026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5CA171-7817-4EB8-BD06-8DC08B6DD669}" type="datetime1">
              <a:rPr lang="fr-FR" noProof="0" smtClean="0"/>
              <a:t>20/02/2026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CB6A67-71AB-4430-8E9A-3C4E54AB6270}" type="datetime1">
              <a:rPr lang="fr-FR" noProof="0" smtClean="0"/>
              <a:t>20/02/2026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78E809-7279-41D4-8D12-46601669AEF8}" type="datetime1">
              <a:rPr lang="fr-FR" noProof="0" smtClean="0"/>
              <a:t>20/02/2026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 hasCustomPrompt="1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fr-FR" noProof="0"/>
              <a:t>Modifiez le style du titre du masque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E15B8F-B91C-47AC-B98D-C114892A6229}" type="datetime1">
              <a:rPr lang="fr-FR" noProof="0" smtClean="0"/>
              <a:t>20/02/2026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2769C86-3347-4673-9EED-DCA59A1E5DED}" type="datetime1">
              <a:rPr lang="fr-FR" noProof="0" smtClean="0"/>
              <a:t>20/02/2026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8" name="Connecteur droit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1F1C99-0FCE-4E24-B45E-A6B8B87EE97A}" type="datetime1">
              <a:rPr lang="fr-FR" noProof="0" smtClean="0"/>
              <a:t>20/02/2026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 hasCustomPrompt="1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fr-FR" noProof="0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32C3B24-D805-4A76-8E65-C9738296B930}" type="datetime1">
              <a:rPr lang="fr-FR" noProof="0" smtClean="0"/>
              <a:t>20/02/2026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7" name="Connecteur droit 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87726DE0-7F70-4976-999D-381380B45882}" type="datetime1">
              <a:rPr lang="fr-FR" noProof="0" smtClean="0"/>
              <a:t>20/02/2026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cxnSp>
        <p:nvCxnSpPr>
          <p:cNvPr id="7" name="Connecteur droit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ctangle 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rmAutofit/>
          </a:bodyPr>
          <a:lstStyle/>
          <a:p>
            <a:pPr algn="l"/>
            <a:r>
              <a:rPr lang="fr-FR" sz="3200" dirty="0">
                <a:solidFill>
                  <a:srgbClr val="FFFFFF"/>
                </a:solidFill>
              </a:rPr>
              <a:t>Assistant intelligent de recommandation d'événements culturels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rtlCol="0" anchor="t">
            <a:normAutofit/>
          </a:bodyPr>
          <a:lstStyle/>
          <a:p>
            <a:pPr rtl="0"/>
            <a:r>
              <a:rPr lang="fr-FR" dirty="0">
                <a:solidFill>
                  <a:srgbClr val="FFFFFF"/>
                </a:solidFill>
              </a:rPr>
              <a:t>Projet 7 — Système RAG pour </a:t>
            </a:r>
            <a:r>
              <a:rPr lang="fr-FR" dirty="0" err="1">
                <a:solidFill>
                  <a:srgbClr val="FFFFFF"/>
                </a:solidFill>
              </a:rPr>
              <a:t>Puls</a:t>
            </a:r>
            <a:r>
              <a:rPr lang="fr-FR" dirty="0">
                <a:solidFill>
                  <a:srgbClr val="FFFFFF"/>
                </a:solidFill>
              </a:rPr>
              <a:t>-Events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6467CB-67F5-CA5A-B0B0-DE022D914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anchor="ctr">
            <a:normAutofit/>
          </a:bodyPr>
          <a:lstStyle/>
          <a:p>
            <a:r>
              <a:rPr lang="fr-FR" dirty="0"/>
              <a:t>Contexte &amp; Problématique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DADF0D51-E112-FD1E-BFAC-E2BD8BB033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4243330"/>
              </p:ext>
            </p:extLst>
          </p:nvPr>
        </p:nvGraphicFramePr>
        <p:xfrm>
          <a:off x="1024128" y="2286000"/>
          <a:ext cx="972007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9050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D28341-863C-F0C6-38E5-711713AAE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anchor="ctr">
            <a:normAutofit/>
          </a:bodyPr>
          <a:lstStyle/>
          <a:p>
            <a:r>
              <a:rPr lang="fr-FR" dirty="0"/>
              <a:t>Qu'est-ce que le RAG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61FEC6-06B0-C683-198A-8AD6E1037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>
            <a:normAutofit/>
          </a:bodyPr>
          <a:lstStyle/>
          <a:p>
            <a:r>
              <a:rPr lang="fr-FR" dirty="0" err="1"/>
              <a:t>Retrieval-Augmented</a:t>
            </a:r>
            <a:r>
              <a:rPr lang="fr-FR" dirty="0"/>
              <a:t> </a:t>
            </a:r>
            <a:r>
              <a:rPr lang="fr-FR" dirty="0" err="1"/>
              <a:t>Generation</a:t>
            </a:r>
            <a:r>
              <a:rPr lang="fr-FR" dirty="0"/>
              <a:t> = combinaison de la recherche documentaire et de la génération de texte</a:t>
            </a:r>
          </a:p>
          <a:p>
            <a:pPr marL="0" indent="0">
              <a:buNone/>
            </a:pPr>
            <a:r>
              <a:rPr lang="fr-FR" dirty="0"/>
              <a:t>Avantages clés :</a:t>
            </a:r>
          </a:p>
          <a:p>
            <a:r>
              <a:rPr lang="fr-FR" dirty="0"/>
              <a:t>- Réponses ancrées dans des données réelles et actualisées</a:t>
            </a:r>
          </a:p>
          <a:p>
            <a:r>
              <a:rPr lang="fr-FR" dirty="0"/>
              <a:t>- Traçabilité des sources</a:t>
            </a:r>
          </a:p>
          <a:p>
            <a:r>
              <a:rPr lang="fr-FR" dirty="0"/>
              <a:t>- Mise à jour continue via /</a:t>
            </a:r>
            <a:r>
              <a:rPr lang="fr-FR" dirty="0" err="1"/>
              <a:t>rebuild</a:t>
            </a:r>
            <a:endParaRPr lang="fr-FR" dirty="0"/>
          </a:p>
          <a:p>
            <a:endParaRPr lang="fr-FR" dirty="0"/>
          </a:p>
        </p:txBody>
      </p:sp>
      <p:pic>
        <p:nvPicPr>
          <p:cNvPr id="5" name="Image 4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3D84D186-E69D-CD7A-5833-47ADC0574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942539"/>
            <a:ext cx="4754880" cy="27102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02881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6EBAE9-9AB7-2837-B498-CCA726A64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anchor="ctr">
            <a:normAutofit/>
          </a:bodyPr>
          <a:lstStyle/>
          <a:p>
            <a:r>
              <a:rPr lang="fr-FR" dirty="0"/>
              <a:t>Architecture Globale</a:t>
            </a:r>
          </a:p>
        </p:txBody>
      </p:sp>
      <p:pic>
        <p:nvPicPr>
          <p:cNvPr id="7" name="Espace réservé du contenu 6" descr="Une image contenant texte, diagramme, Pla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440F9780-E071-C8C4-24AF-733402133B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36923" y="2286000"/>
            <a:ext cx="2494483" cy="40233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42682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69640C-72CF-2576-0AC0-25E9D9562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anchor="ctr">
            <a:normAutofit/>
          </a:bodyPr>
          <a:lstStyle/>
          <a:p>
            <a:r>
              <a:rPr lang="fr-FR" dirty="0"/>
              <a:t>Intégration de </a:t>
            </a:r>
            <a:r>
              <a:rPr lang="fr-FR" dirty="0" err="1"/>
              <a:t>LangChain</a:t>
            </a:r>
            <a:r>
              <a:rPr lang="fr-FR" dirty="0"/>
              <a:t> dans le système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9E5C92-7E76-DBE6-BF2F-DD5E552CDB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6" y="1897811"/>
            <a:ext cx="6075413" cy="4411549"/>
          </a:xfrm>
        </p:spPr>
        <p:txBody>
          <a:bodyPr>
            <a:normAutofit lnSpcReduction="10000"/>
          </a:bodyPr>
          <a:lstStyle/>
          <a:p>
            <a:pPr lvl="1"/>
            <a:r>
              <a:rPr lang="fr-FR" dirty="0"/>
              <a:t>3 Composants </a:t>
            </a:r>
            <a:r>
              <a:rPr lang="fr-FR" b="1" dirty="0" err="1"/>
              <a:t>LangChain</a:t>
            </a:r>
            <a:r>
              <a:rPr lang="fr-FR" dirty="0"/>
              <a:t> intégrés au système RAG :</a:t>
            </a:r>
          </a:p>
          <a:p>
            <a:pPr lvl="2"/>
            <a:r>
              <a:rPr lang="fr-FR" sz="1800" b="1" dirty="0" err="1"/>
              <a:t>ChatMistralAI</a:t>
            </a:r>
            <a:r>
              <a:rPr lang="fr-FR" sz="1800" b="1" dirty="0"/>
              <a:t> </a:t>
            </a:r>
            <a:r>
              <a:rPr lang="fr-FR" sz="1800" dirty="0"/>
              <a:t>: Interface avec le modèle</a:t>
            </a:r>
          </a:p>
          <a:p>
            <a:pPr lvl="2"/>
            <a:r>
              <a:rPr lang="fr-FR" sz="1800" b="1" dirty="0" err="1"/>
              <a:t>ChatPromptTemplate</a:t>
            </a:r>
            <a:r>
              <a:rPr lang="fr-FR" sz="1800" dirty="0"/>
              <a:t> : Gestion des prompts structurés</a:t>
            </a:r>
          </a:p>
          <a:p>
            <a:pPr lvl="2"/>
            <a:r>
              <a:rPr lang="fr-FR" sz="1800" b="1" dirty="0" err="1"/>
              <a:t>StrOutputParser</a:t>
            </a:r>
            <a:r>
              <a:rPr lang="fr-FR" sz="1800" dirty="0"/>
              <a:t> : Extraction des réponses textuelles</a:t>
            </a:r>
          </a:p>
          <a:p>
            <a:pPr marL="310896" lvl="2" indent="0">
              <a:buNone/>
            </a:pPr>
            <a:endParaRPr lang="fr-FR" sz="1800" dirty="0"/>
          </a:p>
          <a:p>
            <a:pPr lvl="2"/>
            <a:r>
              <a:rPr lang="fr-FR" sz="1800" b="1" dirty="0"/>
              <a:t>1. Simplification du code</a:t>
            </a:r>
          </a:p>
          <a:p>
            <a:pPr lvl="3"/>
            <a:r>
              <a:rPr lang="fr-FR" sz="1800" dirty="0"/>
              <a:t>Pipeline déclaratif avec l'opérateur | </a:t>
            </a:r>
          </a:p>
          <a:p>
            <a:pPr lvl="3"/>
            <a:r>
              <a:rPr lang="fr-FR" sz="1800" dirty="0"/>
              <a:t>Remplace plusieurs appels API manuels par 1 chaîne</a:t>
            </a:r>
          </a:p>
          <a:p>
            <a:pPr lvl="2"/>
            <a:r>
              <a:rPr lang="fr-FR" sz="1800" b="1" dirty="0"/>
              <a:t>2. Gestion professionnelle des prompts</a:t>
            </a:r>
          </a:p>
          <a:p>
            <a:pPr lvl="3"/>
            <a:r>
              <a:rPr lang="fr-FR" sz="1800" dirty="0"/>
              <a:t>Template structurées</a:t>
            </a:r>
          </a:p>
          <a:p>
            <a:pPr lvl="3"/>
            <a:r>
              <a:rPr lang="fr-FR" sz="1800" dirty="0"/>
              <a:t>Injection automatique du contexte + question</a:t>
            </a:r>
          </a:p>
          <a:p>
            <a:pPr lvl="2"/>
            <a:r>
              <a:rPr lang="fr-FR" sz="1800" b="1" dirty="0"/>
              <a:t>3. Maintenabilité</a:t>
            </a:r>
          </a:p>
          <a:p>
            <a:pPr lvl="3"/>
            <a:r>
              <a:rPr lang="fr-FR" sz="1800" dirty="0"/>
              <a:t>Changement de modèle sans réécrire le code</a:t>
            </a:r>
          </a:p>
          <a:p>
            <a:pPr lvl="3"/>
            <a:r>
              <a:rPr lang="fr-FR" sz="1800" dirty="0"/>
              <a:t>Compatible avec l'évaluation automatique </a:t>
            </a:r>
          </a:p>
        </p:txBody>
      </p:sp>
      <p:pic>
        <p:nvPicPr>
          <p:cNvPr id="5" name="Image 4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1D35BB41-6C98-19C1-87D9-6C2271D8B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180" y="1563551"/>
            <a:ext cx="2260431" cy="47092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5131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E02B55-6C9D-EEEB-6533-E52090CCB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Démonstration de l’api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592CD1-64AB-F60B-5EE5-2395B709F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2400" dirty="0"/>
              <a:t>- POST /</a:t>
            </a:r>
            <a:r>
              <a:rPr lang="fr-FR" sz="2400" dirty="0" err="1"/>
              <a:t>ask</a:t>
            </a:r>
            <a:endParaRPr lang="fr-FR" sz="2400" dirty="0"/>
          </a:p>
          <a:p>
            <a:pPr lvl="3"/>
            <a:r>
              <a:rPr lang="fr-FR" sz="2400" dirty="0"/>
              <a:t>La question est envoyée au système RAG, qui fournit une réponse </a:t>
            </a:r>
            <a:r>
              <a:rPr lang="fr-FR" sz="2400" dirty="0" err="1"/>
              <a:t>pértinente</a:t>
            </a:r>
            <a:r>
              <a:rPr lang="fr-FR" sz="2400" dirty="0"/>
              <a:t>.</a:t>
            </a:r>
          </a:p>
          <a:p>
            <a:pPr lvl="3"/>
            <a:endParaRPr lang="fr-FR" sz="2400" dirty="0"/>
          </a:p>
          <a:p>
            <a:r>
              <a:rPr lang="fr-FR" sz="2400" dirty="0"/>
              <a:t>- POST /</a:t>
            </a:r>
            <a:r>
              <a:rPr lang="fr-FR" sz="2400" dirty="0" err="1"/>
              <a:t>rebuild</a:t>
            </a:r>
            <a:endParaRPr lang="fr-FR" sz="2400" dirty="0"/>
          </a:p>
          <a:p>
            <a:pPr lvl="3"/>
            <a:r>
              <a:rPr lang="fr-FR" sz="2400" dirty="0"/>
              <a:t>Reconstruire l'index FAISS en récupérant les derniers événements </a:t>
            </a:r>
            <a:r>
              <a:rPr lang="fr-FR" sz="2400" dirty="0" err="1"/>
              <a:t>OpenAgenda</a:t>
            </a:r>
            <a:endParaRPr lang="fr-FR" sz="2400" dirty="0"/>
          </a:p>
          <a:p>
            <a:br>
              <a:rPr lang="fr-FR" sz="2400" dirty="0"/>
            </a:br>
            <a:r>
              <a:rPr lang="fr-FR" sz="2400" dirty="0"/>
              <a:t>- GET /</a:t>
            </a:r>
            <a:r>
              <a:rPr lang="fr-FR" sz="2400" dirty="0" err="1"/>
              <a:t>health</a:t>
            </a:r>
            <a:endParaRPr lang="fr-FR" sz="2400" dirty="0"/>
          </a:p>
          <a:p>
            <a:pPr lvl="3"/>
            <a:r>
              <a:rPr lang="fr-FR" sz="2400" dirty="0"/>
              <a:t>Vérification de l'état du système (RAG chargé, API disponible)</a:t>
            </a:r>
          </a:p>
          <a:p>
            <a:pPr lvl="3"/>
            <a:endParaRPr lang="fr-FR" dirty="0"/>
          </a:p>
          <a:p>
            <a:pPr lvl="3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09254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9E0B0F-AF70-D739-CF41-E701E9F4D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Anti-Hallucination &amp; Qualité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0B3021-7333-BAB1-7B7B-AD4774C00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Prompt engineering (7 règles strictes)</a:t>
            </a:r>
          </a:p>
          <a:p>
            <a:pPr lvl="1"/>
            <a:r>
              <a:rPr lang="fr-FR" dirty="0"/>
              <a:t>Répondre uniquement à partir des documents fournis</a:t>
            </a:r>
          </a:p>
          <a:p>
            <a:pPr lvl="1"/>
            <a:r>
              <a:rPr lang="fr-FR" dirty="0"/>
              <a:t>Si l'information est absente → dire "Je ne sais pas"</a:t>
            </a:r>
          </a:p>
          <a:p>
            <a:pPr lvl="1"/>
            <a:r>
              <a:rPr lang="fr-FR" dirty="0"/>
              <a:t>Citer les sources systématiquement</a:t>
            </a:r>
          </a:p>
          <a:p>
            <a:pPr lvl="1"/>
            <a:r>
              <a:rPr lang="fr-FR" dirty="0"/>
              <a:t>Pas d'invention de dates, lieux ou prix</a:t>
            </a:r>
          </a:p>
          <a:p>
            <a:pPr lvl="1"/>
            <a:r>
              <a:rPr lang="fr-FR" dirty="0"/>
              <a:t>Réponses déterministes, reproductibles</a:t>
            </a:r>
          </a:p>
          <a:p>
            <a:pPr lvl="1"/>
            <a:r>
              <a:rPr lang="fr-FR" dirty="0"/>
              <a:t>Réduit la créativité non souhaitée</a:t>
            </a:r>
          </a:p>
          <a:p>
            <a:pPr lvl="1"/>
            <a:r>
              <a:rPr lang="fr-FR" dirty="0"/>
              <a:t>Assure que les documents les plus pertinents sont envoyés au LLM</a:t>
            </a:r>
          </a:p>
        </p:txBody>
      </p:sp>
    </p:spTree>
    <p:extLst>
      <p:ext uri="{BB962C8B-B14F-4D97-AF65-F5344CB8AC3E}">
        <p14:creationId xmlns:p14="http://schemas.microsoft.com/office/powerpoint/2010/main" val="3651234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16E3BB-09BC-CF73-E704-69054E0FF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Évaluation RAGAS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23F4B3-406E-2C17-A7EB-500D5E1C2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fr-FR" dirty="0"/>
              <a:t>Framework : RAGAS — évaluation automatisée de systèmes RAG</a:t>
            </a:r>
          </a:p>
          <a:p>
            <a:r>
              <a:rPr lang="fr-FR" dirty="0"/>
              <a:t>| Métrique            | Score      | Signification </a:t>
            </a:r>
          </a:p>
          <a:p>
            <a:r>
              <a:rPr lang="fr-FR" dirty="0"/>
              <a:t>| </a:t>
            </a:r>
            <a:r>
              <a:rPr lang="fr-FR" dirty="0" err="1"/>
              <a:t>Faithfulness</a:t>
            </a:r>
            <a:r>
              <a:rPr lang="fr-FR" dirty="0"/>
              <a:t>         | ~0.90     | Faible taux d'hallucination </a:t>
            </a:r>
          </a:p>
          <a:p>
            <a:r>
              <a:rPr lang="fr-FR" dirty="0"/>
              <a:t>| </a:t>
            </a:r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Relevancy</a:t>
            </a:r>
            <a:r>
              <a:rPr lang="fr-FR" dirty="0"/>
              <a:t>| ~0.65     | Pertinence des réponses </a:t>
            </a:r>
          </a:p>
          <a:p>
            <a:r>
              <a:rPr lang="fr-FR" dirty="0"/>
              <a:t>| </a:t>
            </a:r>
            <a:r>
              <a:rPr lang="fr-FR" dirty="0" err="1"/>
              <a:t>Context</a:t>
            </a:r>
            <a:r>
              <a:rPr lang="fr-FR" dirty="0"/>
              <a:t> </a:t>
            </a:r>
            <a:r>
              <a:rPr lang="fr-FR" dirty="0" err="1"/>
              <a:t>Precision</a:t>
            </a:r>
            <a:r>
              <a:rPr lang="fr-FR" dirty="0"/>
              <a:t> | ~0.60      | Qualité des documents récupérés </a:t>
            </a:r>
          </a:p>
          <a:p>
            <a:r>
              <a:rPr lang="fr-FR" dirty="0"/>
              <a:t>| </a:t>
            </a:r>
            <a:r>
              <a:rPr lang="fr-FR" dirty="0" err="1"/>
              <a:t>Context</a:t>
            </a:r>
            <a:r>
              <a:rPr lang="fr-FR" dirty="0"/>
              <a:t> </a:t>
            </a:r>
            <a:r>
              <a:rPr lang="fr-FR" dirty="0" err="1"/>
              <a:t>Recall</a:t>
            </a:r>
            <a:r>
              <a:rPr lang="fr-FR" dirty="0"/>
              <a:t>     | ~0.75      | Couverture des informations pertinentes</a:t>
            </a:r>
          </a:p>
          <a:p>
            <a:endParaRPr lang="fr-FR" dirty="0"/>
          </a:p>
          <a:p>
            <a:r>
              <a:rPr lang="fr-FR" dirty="0"/>
              <a:t>Analyse :</a:t>
            </a:r>
          </a:p>
          <a:p>
            <a:r>
              <a:rPr lang="fr-FR" dirty="0"/>
              <a:t>- </a:t>
            </a:r>
            <a:r>
              <a:rPr lang="fr-FR" dirty="0" err="1"/>
              <a:t>Faithfulness</a:t>
            </a:r>
            <a:r>
              <a:rPr lang="fr-FR" dirty="0"/>
              <a:t> élevée → le modèle reste ancré dans les documents</a:t>
            </a:r>
          </a:p>
          <a:p>
            <a:r>
              <a:rPr lang="fr-FR" dirty="0"/>
              <a:t>- </a:t>
            </a:r>
            <a:r>
              <a:rPr lang="fr-FR" dirty="0" err="1"/>
              <a:t>Context</a:t>
            </a:r>
            <a:r>
              <a:rPr lang="fr-FR" dirty="0"/>
              <a:t> </a:t>
            </a:r>
            <a:r>
              <a:rPr lang="fr-FR" dirty="0" err="1"/>
              <a:t>Recall</a:t>
            </a:r>
            <a:r>
              <a:rPr lang="fr-FR" dirty="0"/>
              <a:t> plus faible → certains événements pertinents peuvent être manqués (limitation du volume à 500 événements)</a:t>
            </a:r>
          </a:p>
          <a:p>
            <a:r>
              <a:rPr lang="fr-FR" dirty="0"/>
              <a:t>- Les 3 questions hors corpus → correctement identifiées comme "non disponibles"</a:t>
            </a:r>
          </a:p>
          <a:p>
            <a:br>
              <a:rPr lang="fr-FR" dirty="0"/>
            </a:b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7270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477B57-C9C7-23CE-7010-757C6195A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Perspectives &amp; Améliorations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977510-1EF7-AD9B-E422-EE55D9026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FR" sz="1600" dirty="0"/>
              <a:t>Court terme :</a:t>
            </a:r>
          </a:p>
          <a:p>
            <a:pPr lvl="1"/>
            <a:r>
              <a:rPr lang="fr-FR" sz="1600" dirty="0"/>
              <a:t> </a:t>
            </a:r>
            <a:r>
              <a:rPr lang="fr-FR" sz="1600" dirty="0" err="1"/>
              <a:t>Scheduler</a:t>
            </a:r>
            <a:r>
              <a:rPr lang="fr-FR" sz="1600" dirty="0"/>
              <a:t> automatique (</a:t>
            </a:r>
            <a:r>
              <a:rPr lang="fr-FR" sz="1600" dirty="0" err="1"/>
              <a:t>APScheduler</a:t>
            </a:r>
            <a:r>
              <a:rPr lang="fr-FR" sz="1600" dirty="0"/>
              <a:t> / </a:t>
            </a:r>
            <a:r>
              <a:rPr lang="fr-FR" sz="1600" dirty="0" err="1"/>
              <a:t>Celery</a:t>
            </a:r>
            <a:r>
              <a:rPr lang="fr-FR" sz="1600" dirty="0"/>
              <a:t>) pour le </a:t>
            </a:r>
            <a:r>
              <a:rPr lang="fr-FR" sz="1600" dirty="0" err="1"/>
              <a:t>rebuild</a:t>
            </a:r>
            <a:r>
              <a:rPr lang="fr-FR" sz="1600" dirty="0"/>
              <a:t> périodique</a:t>
            </a:r>
          </a:p>
          <a:p>
            <a:pPr lvl="1"/>
            <a:r>
              <a:rPr lang="fr-FR" sz="1600" dirty="0"/>
              <a:t> Authentification JWT sur l'API</a:t>
            </a:r>
          </a:p>
          <a:p>
            <a:pPr lvl="1"/>
            <a:r>
              <a:rPr lang="fr-FR" sz="1600" dirty="0"/>
              <a:t> Monitoring </a:t>
            </a:r>
            <a:r>
              <a:rPr lang="fr-FR" sz="1600" dirty="0" err="1"/>
              <a:t>Prometheus</a:t>
            </a:r>
            <a:r>
              <a:rPr lang="fr-FR" sz="1600" dirty="0"/>
              <a:t> + </a:t>
            </a:r>
            <a:r>
              <a:rPr lang="fr-FR" sz="1600" dirty="0" err="1"/>
              <a:t>Grafana</a:t>
            </a:r>
            <a:endParaRPr lang="fr-FR" sz="1600" dirty="0"/>
          </a:p>
          <a:p>
            <a:pPr marL="0" indent="0">
              <a:buNone/>
            </a:pPr>
            <a:r>
              <a:rPr lang="fr-FR" sz="1600" dirty="0"/>
              <a:t>Moyen terme :</a:t>
            </a:r>
          </a:p>
          <a:p>
            <a:pPr lvl="1"/>
            <a:r>
              <a:rPr lang="fr-FR" sz="1600" dirty="0"/>
              <a:t> Recherche hybride avec filtres sur les métadonnées (date, catégorie, lieu)</a:t>
            </a:r>
          </a:p>
          <a:p>
            <a:pPr lvl="1"/>
            <a:r>
              <a:rPr lang="fr-FR" sz="1600" dirty="0"/>
              <a:t> Augmenter le volume de données (toutes les villes, pas seulement Lille)</a:t>
            </a:r>
          </a:p>
          <a:p>
            <a:pPr lvl="1"/>
            <a:r>
              <a:rPr lang="fr-FR" sz="1600" dirty="0"/>
              <a:t> Mémoire conversationnelle </a:t>
            </a:r>
          </a:p>
          <a:p>
            <a:r>
              <a:rPr lang="fr-FR" sz="1600" dirty="0"/>
              <a:t>Long </a:t>
            </a:r>
            <a:r>
              <a:rPr lang="fr-FR" sz="1600"/>
              <a:t>terme :</a:t>
            </a:r>
            <a:endParaRPr lang="fr-FR" sz="1600" dirty="0"/>
          </a:p>
          <a:p>
            <a:pPr lvl="1"/>
            <a:r>
              <a:rPr lang="fr-FR" sz="1600" dirty="0"/>
              <a:t> Pipeline CI/CD (GitHub Actions → déploiement automatique)</a:t>
            </a:r>
          </a:p>
          <a:p>
            <a:pPr lvl="1"/>
            <a:r>
              <a:rPr lang="fr-FR" sz="1600" dirty="0"/>
              <a:t> Interface utilisateur web (React / Next.js)</a:t>
            </a:r>
          </a:p>
          <a:p>
            <a:pPr lvl="1"/>
            <a:r>
              <a:rPr lang="fr-FR" sz="1600" dirty="0"/>
              <a:t> Support multimodal (images des événements)</a:t>
            </a:r>
          </a:p>
        </p:txBody>
      </p:sp>
    </p:spTree>
    <p:extLst>
      <p:ext uri="{BB962C8B-B14F-4D97-AF65-F5344CB8AC3E}">
        <p14:creationId xmlns:p14="http://schemas.microsoft.com/office/powerpoint/2010/main" val="10904581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é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4943_TF22378848.potx" id="{64A03BB9-641C-4E3F-A694-C453BE723143}" vid="{428F3FFD-DDE8-4CA6-BE65-84BE1BF156D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8A2F88-55C5-4ED1-9541-807C65424763}">
  <ds:schemaRefs>
    <ds:schemaRef ds:uri="71af3243-3dd4-4a8d-8c0d-dd76da1f02a5"/>
    <ds:schemaRef ds:uri="http://purl.org/dc/elements/1.1/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16c05727-aa75-4e4a-9b5f-8a80a1165891"/>
    <ds:schemaRef ds:uri="http://www.w3.org/XML/1998/namespace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Conception intégrale</Template>
  <TotalTime>485</TotalTime>
  <Words>521</Words>
  <Application>Microsoft Office PowerPoint</Application>
  <PresentationFormat>Grand écran</PresentationFormat>
  <Paragraphs>84</Paragraphs>
  <Slides>9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Calibri</vt:lpstr>
      <vt:lpstr>Tw Cen MT</vt:lpstr>
      <vt:lpstr>Tw Cen MT Condensed</vt:lpstr>
      <vt:lpstr>Wingdings 3</vt:lpstr>
      <vt:lpstr>Intégral</vt:lpstr>
      <vt:lpstr>Assistant intelligent de recommandation d'événements culturels</vt:lpstr>
      <vt:lpstr>Contexte &amp; Problématique</vt:lpstr>
      <vt:lpstr>Qu'est-ce que le RAG ?</vt:lpstr>
      <vt:lpstr>Architecture Globale</vt:lpstr>
      <vt:lpstr>Intégration de LangChain dans le système</vt:lpstr>
      <vt:lpstr>Démonstration de l’api</vt:lpstr>
      <vt:lpstr>Anti-Hallucination &amp; Qualité</vt:lpstr>
      <vt:lpstr>Évaluation RAGAS</vt:lpstr>
      <vt:lpstr>Perspectives &amp; Améliorations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  Ringot</dc:creator>
  <cp:lastModifiedBy>christophe  Ringot</cp:lastModifiedBy>
  <cp:revision>13</cp:revision>
  <dcterms:created xsi:type="dcterms:W3CDTF">2026-02-19T08:10:25Z</dcterms:created>
  <dcterms:modified xsi:type="dcterms:W3CDTF">2026-02-20T13:32:28Z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